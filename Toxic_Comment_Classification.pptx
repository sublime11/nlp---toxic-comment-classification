
<file path=[Content_Types].xml><?xml version="1.0" encoding="utf-8"?>
<Types xmlns="http://schemas.openxmlformats.org/package/2006/content-types">
  <Default ContentType="image/jpeg" Extension="jpg"/>
  <Default ContentType="application/vnd.openxmlformats-officedocument.spreadsheetml.sheet" Extension="xlsx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heyxrVzLlqM6L+OuizvPD7W8uu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CCDDE89-4F15-4C97-B22F-FC51D6615A46}">
  <a:tblStyle styleId="{1CCDDE89-4F15-4C97-B22F-FC51D6615A4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Comments</c:v>
                </c:pt>
              </c:strCache>
            </c:strRef>
          </c:tx>
          <c:spPr>
            <a:solidFill>
              <a:srgbClr val="9B111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B2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toxic</c:v>
                  </c:pt>
                  <c:pt idx="1">
                    <c:v>obscene</c:v>
                  </c:pt>
                  <c:pt idx="2">
                    <c:v>insult</c:v>
                  </c:pt>
                  <c:pt idx="3">
                    <c:v>severe_toxic</c:v>
                  </c:pt>
                  <c:pt idx="4">
                    <c:v>identity_hate</c:v>
                  </c:pt>
                  <c:pt idx="5">
                    <c:v>threat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4973</c:v>
                </c:pt>
                <c:pt idx="1">
                  <c:v>2743</c:v>
                </c:pt>
                <c:pt idx="2">
                  <c:v>2501</c:v>
                </c:pt>
                <c:pt idx="3">
                  <c:v>527</c:v>
                </c:pt>
                <c:pt idx="4">
                  <c:v>451</c:v>
                </c:pt>
                <c:pt idx="5">
                  <c:v>179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1B2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5F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1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5F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9B111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Random
Forest</c:v>
                  </c:pt>
                  <c:pt idx="1">
                    <c:v>Logistic
Regression</c:v>
                  </c:pt>
                  <c:pt idx="2">
                    <c:v>Linear
SVM</c:v>
                  </c:pt>
                  <c:pt idx="3">
                    <c:v>Gradient
Boosting</c:v>
                  </c:pt>
                  <c:pt idx="4">
                    <c:v>Naive
Bayes</c:v>
                  </c:pt>
                  <c:pt idx="5">
                    <c:v>Decision
Tree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0.9121</c:v>
                </c:pt>
                <c:pt idx="1">
                  <c:v>0.9096</c:v>
                </c:pt>
                <c:pt idx="2">
                  <c:v>0.9095</c:v>
                </c:pt>
                <c:pt idx="3">
                  <c:v>0.9054</c:v>
                </c:pt>
                <c:pt idx="4">
                  <c:v>0.9039</c:v>
                </c:pt>
                <c:pt idx="5">
                  <c:v>0.8835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 Score</c:v>
                </c:pt>
              </c:strCache>
            </c:strRef>
          </c:tx>
          <c:spPr>
            <a:solidFill>
              <a:srgbClr val="1F8A7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Random
Forest</c:v>
                  </c:pt>
                  <c:pt idx="1">
                    <c:v>Logistic
Regression</c:v>
                  </c:pt>
                  <c:pt idx="2">
                    <c:v>Linear
SVM</c:v>
                  </c:pt>
                  <c:pt idx="3">
                    <c:v>Gradient
Boosting</c:v>
                  </c:pt>
                  <c:pt idx="4">
                    <c:v>Naive
Bayes</c:v>
                  </c:pt>
                  <c:pt idx="5">
                    <c:v>Decision
Tree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0.6608</c:v>
                </c:pt>
                <c:pt idx="1">
                  <c:v>0.591</c:v>
                </c:pt>
                <c:pt idx="2">
                  <c:v>0.6797</c:v>
                </c:pt>
                <c:pt idx="3">
                  <c:v>0.5648</c:v>
                </c:pt>
                <c:pt idx="4">
                  <c:v>0.4837</c:v>
                </c:pt>
                <c:pt idx="5">
                  <c:v>0.6348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5F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1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5F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" name="Google Shape;1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Open by framing the problem: online platforms need to automatically flag toxic comments. This project builds and compares ML models for multi-label toxicity classification, plus a sentiment/emotion analysis layer.</a:t>
            </a:r>
            <a:endParaRPr/>
          </a:p>
        </p:txBody>
      </p:sp>
      <p:sp>
        <p:nvSpPr>
          <p:cNvPr id="15" name="Google Shape;1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f7b82eefb1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" name="Google Shape;26;g3f7b82eefb1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g3f7b82eefb1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Walk through the roadmap quickly - this mirrors the notebook's structure section by section.</a:t>
            </a:r>
            <a:endParaRPr/>
          </a:p>
        </p:txBody>
      </p:sp>
      <p:sp>
        <p:nvSpPr>
          <p:cNvPr id="33" name="Google Shape;3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dataset is the Jigsaw-style Wikipedia comments corpus with six overlapping toxicity labels - a comment can belong to more than one category, which is why this is a multi-label problem, not a simple binary one.</a:t>
            </a:r>
            <a:endParaRPr/>
          </a:p>
        </p:txBody>
      </p:sp>
      <p:sp>
        <p:nvSpPr>
          <p:cNvPr id="67" name="Google Shape;6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Emphasize this is standard NLP hygiene: lowercase, remove URLs, strip non-alphabetic characters, tokenize, remove stopwords. Result feeds directly into feature extraction.</a:t>
            </a:r>
            <a:endParaRPr/>
          </a:p>
        </p:txBody>
      </p:sp>
      <p:sp>
        <p:nvSpPr>
          <p:cNvPr id="87" name="Google Shape;8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Two complementary layers: VADER gives a polarity score (pos/neg/neutral), NRCLex gives a richer emotion label. Together they add interpretability on top of the binary toxicity labels.</a:t>
            </a:r>
            <a:endParaRPr/>
          </a:p>
        </p:txBody>
      </p:sp>
      <p:sp>
        <p:nvSpPr>
          <p:cNvPr id="120" name="Google Shape;12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chart mirrors the tox_cols.sum() output in the notebook. Highlight the imbalance - it directly explains why rare classes like 'threat' score poorly in the classification report later.</a:t>
            </a:r>
            <a:endParaRPr/>
          </a:p>
        </p:txBody>
      </p:sp>
      <p:sp>
        <p:nvSpPr>
          <p:cNvPr id="136" name="Google Shape;13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is the core ML pipeline - a good place to explain train-test split (why 80/20, why random_state matters for reproducibility) and OneVsRestClassifier if the mentor asks about multi-label handling.</a:t>
            </a:r>
            <a:endParaRPr/>
          </a:p>
        </p:txBody>
      </p:sp>
      <p:sp>
        <p:nvSpPr>
          <p:cNvPr id="147" name="Google Shape;14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If the mentor pushes on 'why not just look at accuracy' - this is the moment to explain class imbalance and why F1 is the more honest metric for this dataset.</a:t>
            </a:r>
            <a:endParaRPr/>
          </a:p>
        </p:txBody>
      </p:sp>
      <p:sp>
        <p:nvSpPr>
          <p:cNvPr id="179" name="Google Shape;17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notebook selects Random Forest as best_model by accuracy, then actually re-fits and saves a fresh Linear SVM (OneVsRestClassifier wrapped) as best_model.pkl before deployment - worth flagging as a small inconsistency to be transparent with the mentor, and something you could clean up.</a:t>
            </a:r>
            <a:endParaRPr/>
          </a:p>
        </p:txBody>
      </p:sp>
      <p:sp>
        <p:nvSpPr>
          <p:cNvPr id="190" name="Google Shape;19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Closing technical slide: shows the project goes beyond a notebook into a usable, shareable tool. Good place to demo the app live if it's still running.</a:t>
            </a:r>
            <a:endParaRPr/>
          </a:p>
        </p:txBody>
      </p:sp>
      <p:sp>
        <p:nvSpPr>
          <p:cNvPr id="204" name="Google Shape;20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End on these four points, then open for questions - the mentor will likely probe on train-test split reasoning and why F1 beats accuracy here.</a:t>
            </a:r>
            <a:endParaRPr/>
          </a:p>
        </p:txBody>
      </p:sp>
      <p:sp>
        <p:nvSpPr>
          <p:cNvPr id="235" name="Google Shape;23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1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2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E0D16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"/>
          <p:cNvSpPr/>
          <p:nvPr/>
        </p:nvSpPr>
        <p:spPr>
          <a:xfrm>
            <a:off x="9720390" y="-1645920"/>
            <a:ext cx="5029200" cy="5029200"/>
          </a:xfrm>
          <a:prstGeom prst="ellipse">
            <a:avLst/>
          </a:prstGeom>
          <a:solidFill>
            <a:srgbClr val="9B111E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10607040" y="3840480"/>
            <a:ext cx="2926080" cy="2926080"/>
          </a:xfrm>
          <a:prstGeom prst="ellipse">
            <a:avLst/>
          </a:prstGeom>
          <a:solidFill>
            <a:srgbClr val="9B111E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640080" y="14173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B8B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2B8BE"/>
                </a:solidFill>
                <a:latin typeface="Calibri"/>
                <a:ea typeface="Calibri"/>
                <a:cs typeface="Calibri"/>
                <a:sym typeface="Calibri"/>
              </a:rPr>
              <a:t>NLP PROJECT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640080" y="1828800"/>
            <a:ext cx="86868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Toxic Comment Classification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and Sentiment Analysis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640080" y="352044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9CC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E8C9CC"/>
                </a:solidFill>
                <a:latin typeface="Calibri"/>
                <a:ea typeface="Calibri"/>
                <a:cs typeface="Calibri"/>
                <a:sym typeface="Calibri"/>
              </a:rPr>
              <a:t>Detecting toxicity and sentiment in online comments using NLP and machine learning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" name="Google Shape;22;p1"/>
          <p:cNvCxnSpPr/>
          <p:nvPr/>
        </p:nvCxnSpPr>
        <p:spPr>
          <a:xfrm>
            <a:off x="640080" y="4251960"/>
            <a:ext cx="1005840" cy="0"/>
          </a:xfrm>
          <a:prstGeom prst="straightConnector1">
            <a:avLst/>
          </a:prstGeom>
          <a:noFill/>
          <a:ln cap="flat" cmpd="sng" w="25400">
            <a:solidFill>
              <a:srgbClr val="F2B8B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" name="Google Shape;23;p1"/>
          <p:cNvSpPr/>
          <p:nvPr/>
        </p:nvSpPr>
        <p:spPr>
          <a:xfrm>
            <a:off x="640080" y="443484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B8B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2B8BE"/>
                </a:solidFill>
                <a:latin typeface="Calibri"/>
                <a:ea typeface="Calibri"/>
                <a:cs typeface="Calibri"/>
                <a:sym typeface="Calibri"/>
              </a:rPr>
              <a:t>Prepared by Apoorv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as image" id="29" name="Google Shape;29;g3f7b82eefb1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"/>
          <p:cNvSpPr/>
          <p:nvPr/>
        </p:nvSpPr>
        <p:spPr>
          <a:xfrm>
            <a:off x="548640" y="365760"/>
            <a:ext cx="5486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2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1B2F"/>
                </a:solidFill>
                <a:latin typeface="Cambria"/>
                <a:ea typeface="Cambria"/>
                <a:cs typeface="Cambria"/>
                <a:sym typeface="Cambria"/>
              </a:rPr>
              <a:t>Agenda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548640" y="1234440"/>
            <a:ext cx="502920" cy="502920"/>
          </a:xfrm>
          <a:prstGeom prst="ellipse">
            <a:avLst/>
          </a:prstGeom>
          <a:solidFill>
            <a:srgbClr val="9B11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548640" y="12344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1234440" y="1207008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2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1B2F"/>
                </a:solidFill>
                <a:latin typeface="Calibri"/>
                <a:ea typeface="Calibri"/>
                <a:cs typeface="Calibri"/>
                <a:sym typeface="Calibri"/>
              </a:rPr>
              <a:t>Problem &amp; Dataset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234440" y="150876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F7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5F73"/>
                </a:solidFill>
                <a:latin typeface="Calibri"/>
                <a:ea typeface="Calibri"/>
                <a:cs typeface="Calibri"/>
                <a:sym typeface="Calibri"/>
              </a:rPr>
              <a:t>What we're solving and the data behind it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548640" y="1984248"/>
            <a:ext cx="502920" cy="502920"/>
          </a:xfrm>
          <a:prstGeom prst="ellipse">
            <a:avLst/>
          </a:prstGeom>
          <a:solidFill>
            <a:srgbClr val="9B11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548640" y="198424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1234440" y="1956816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2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1B2F"/>
                </a:solidFill>
                <a:latin typeface="Calibri"/>
                <a:ea typeface="Calibri"/>
                <a:cs typeface="Calibri"/>
                <a:sym typeface="Calibri"/>
              </a:rPr>
              <a:t>Preprocessing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1234440" y="2258568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F7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5F73"/>
                </a:solidFill>
                <a:latin typeface="Calibri"/>
                <a:ea typeface="Calibri"/>
                <a:cs typeface="Calibri"/>
                <a:sym typeface="Calibri"/>
              </a:rPr>
              <a:t>Cleaning raw comment text for modeling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548640" y="2734056"/>
            <a:ext cx="502920" cy="502920"/>
          </a:xfrm>
          <a:prstGeom prst="ellipse">
            <a:avLst/>
          </a:prstGeom>
          <a:solidFill>
            <a:srgbClr val="9B11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548640" y="2734056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1234440" y="2706624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2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1B2F"/>
                </a:solidFill>
                <a:latin typeface="Calibri"/>
                <a:ea typeface="Calibri"/>
                <a:cs typeface="Calibri"/>
                <a:sym typeface="Calibri"/>
              </a:rPr>
              <a:t>Sentiment &amp; Emotion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1234440" y="3008376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F7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5F73"/>
                </a:solidFill>
                <a:latin typeface="Calibri"/>
                <a:ea typeface="Calibri"/>
                <a:cs typeface="Calibri"/>
                <a:sym typeface="Calibri"/>
              </a:rPr>
              <a:t>VADER sentiment scoring and NRC emotion mining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548640" y="3483864"/>
            <a:ext cx="502920" cy="502920"/>
          </a:xfrm>
          <a:prstGeom prst="ellipse">
            <a:avLst/>
          </a:prstGeom>
          <a:solidFill>
            <a:srgbClr val="9B11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548640" y="3483864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1234440" y="3456432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2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1B2F"/>
                </a:solidFill>
                <a:latin typeface="Calibri"/>
                <a:ea typeface="Calibri"/>
                <a:cs typeface="Calibri"/>
                <a:sym typeface="Calibri"/>
              </a:rPr>
              <a:t>Toxicity Landscape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1234440" y="375818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F7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5F73"/>
                </a:solidFill>
                <a:latin typeface="Calibri"/>
                <a:ea typeface="Calibri"/>
                <a:cs typeface="Calibri"/>
                <a:sym typeface="Calibri"/>
              </a:rPr>
              <a:t>Exploring how toxic labels are distributed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6537960" y="1234440"/>
            <a:ext cx="502920" cy="502920"/>
          </a:xfrm>
          <a:prstGeom prst="ellipse">
            <a:avLst/>
          </a:prstGeom>
          <a:solidFill>
            <a:srgbClr val="9B11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6537960" y="12344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7223760" y="1207008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2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1B2F"/>
                </a:solidFill>
                <a:latin typeface="Calibri"/>
                <a:ea typeface="Calibri"/>
                <a:cs typeface="Calibri"/>
                <a:sym typeface="Calibri"/>
              </a:rPr>
              <a:t>Modeling Pipeline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7223760" y="150876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F7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5F73"/>
                </a:solidFill>
                <a:latin typeface="Calibri"/>
                <a:ea typeface="Calibri"/>
                <a:cs typeface="Calibri"/>
                <a:sym typeface="Calibri"/>
              </a:rPr>
              <a:t>TF-IDF, train-test split, multi-label classifiers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6537960" y="1984248"/>
            <a:ext cx="502920" cy="502920"/>
          </a:xfrm>
          <a:prstGeom prst="ellipse">
            <a:avLst/>
          </a:prstGeom>
          <a:solidFill>
            <a:srgbClr val="9B11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6537960" y="198424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7223760" y="1956816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2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1B2F"/>
                </a:solidFill>
                <a:latin typeface="Calibri"/>
                <a:ea typeface="Calibri"/>
                <a:cs typeface="Calibri"/>
                <a:sym typeface="Calibri"/>
              </a:rPr>
              <a:t>Model Comparison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7223760" y="2258568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F7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5F73"/>
                </a:solidFill>
                <a:latin typeface="Calibri"/>
                <a:ea typeface="Calibri"/>
                <a:cs typeface="Calibri"/>
                <a:sym typeface="Calibri"/>
              </a:rPr>
              <a:t>Six models compared on accuracy, precision, recall, F1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6537960" y="2734056"/>
            <a:ext cx="502920" cy="502920"/>
          </a:xfrm>
          <a:prstGeom prst="ellipse">
            <a:avLst/>
          </a:prstGeom>
          <a:solidFill>
            <a:srgbClr val="9B11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6537960" y="2734056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7223760" y="2706624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2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1B2F"/>
                </a:solidFill>
                <a:latin typeface="Calibri"/>
                <a:ea typeface="Calibri"/>
                <a:cs typeface="Calibri"/>
                <a:sym typeface="Calibri"/>
              </a:rPr>
              <a:t>Deployment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7223760" y="3008376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F7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5F73"/>
                </a:solidFill>
                <a:latin typeface="Calibri"/>
                <a:ea typeface="Calibri"/>
                <a:cs typeface="Calibri"/>
                <a:sym typeface="Calibri"/>
              </a:rPr>
              <a:t>Packaging the best model into a Streamlit app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"/>
          <p:cNvSpPr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2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1B2F"/>
                </a:solidFill>
                <a:latin typeface="Cambria"/>
                <a:ea typeface="Cambria"/>
                <a:cs typeface="Cambria"/>
                <a:sym typeface="Cambria"/>
              </a:rPr>
              <a:t>The Problem &amp; The Dataset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548640" y="1234440"/>
            <a:ext cx="5486400" cy="4937760"/>
          </a:xfrm>
          <a:prstGeom prst="roundRect">
            <a:avLst>
              <a:gd fmla="val 1481" name="adj"/>
            </a:avLst>
          </a:prstGeom>
          <a:solidFill>
            <a:srgbClr val="F7F5F4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868680" y="150876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111E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9B111E"/>
                </a:solidFill>
                <a:latin typeface="Cambria"/>
                <a:ea typeface="Cambria"/>
                <a:cs typeface="Cambria"/>
                <a:sym typeface="Cambria"/>
              </a:rPr>
              <a:t>Why it matters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868680" y="1965960"/>
            <a:ext cx="48463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1B2F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B1B2F"/>
                </a:solidFill>
                <a:latin typeface="Calibri"/>
                <a:ea typeface="Calibri"/>
                <a:cs typeface="Calibri"/>
                <a:sym typeface="Calibri"/>
              </a:rPr>
              <a:t>Online platforms receive millions of comments daily - manual moderation cannot scale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B1B2F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B1B2F"/>
                </a:solidFill>
                <a:latin typeface="Calibri"/>
                <a:ea typeface="Calibri"/>
                <a:cs typeface="Calibri"/>
                <a:sym typeface="Calibri"/>
              </a:rPr>
              <a:t>Toxic content (threats, insults, obscenity) harms users and damages platform trust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B1B2F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B1B2F"/>
                </a:solidFill>
                <a:latin typeface="Calibri"/>
                <a:ea typeface="Calibri"/>
                <a:cs typeface="Calibri"/>
                <a:sym typeface="Calibri"/>
              </a:rPr>
              <a:t>Goal: automatically flag toxic comments across multiple categories, and gauge overall sentiment/emotion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868680" y="416052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111E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9B111E"/>
                </a:solidFill>
                <a:latin typeface="Cambria"/>
                <a:ea typeface="Cambria"/>
                <a:cs typeface="Cambria"/>
                <a:sym typeface="Cambria"/>
              </a:rPr>
              <a:t>Dataset snapshot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868680" y="4572000"/>
            <a:ext cx="48463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1B2F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B1B2F"/>
                </a:solidFill>
                <a:latin typeface="Calibri"/>
                <a:ea typeface="Calibri"/>
                <a:cs typeface="Calibri"/>
                <a:sym typeface="Calibri"/>
              </a:rPr>
              <a:t>Source: Wikipedia comment corpus (train.csv)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B1B2F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B1B2F"/>
                </a:solidFill>
                <a:latin typeface="Calibri"/>
                <a:ea typeface="Calibri"/>
                <a:cs typeface="Calibri"/>
                <a:sym typeface="Calibri"/>
              </a:rPr>
              <a:t>Each comment is labeled across 6 toxicity types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B1B2F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B1B2F"/>
                </a:solidFill>
                <a:latin typeface="Calibri"/>
                <a:ea typeface="Calibri"/>
                <a:cs typeface="Calibri"/>
                <a:sym typeface="Calibri"/>
              </a:rPr>
              <a:t>Labels: toxic, severe_toxic, obscene, threat, insult, identity_hate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6355080" y="1234440"/>
            <a:ext cx="5257800" cy="2331720"/>
          </a:xfrm>
          <a:prstGeom prst="roundRect">
            <a:avLst>
              <a:gd fmla="val 3137" name="adj"/>
            </a:avLst>
          </a:prstGeom>
          <a:solidFill>
            <a:srgbClr val="9B111E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6355080" y="1417320"/>
            <a:ext cx="5257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mbria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6675120" y="2514600"/>
            <a:ext cx="4617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D6D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2D6D9"/>
                </a:solidFill>
                <a:latin typeface="Calibri"/>
                <a:ea typeface="Calibri"/>
                <a:cs typeface="Calibri"/>
                <a:sym typeface="Calibri"/>
              </a:rPr>
              <a:t>toxicity categories predicted simultaneously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D6D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2D6D9"/>
                </a:solidFill>
                <a:latin typeface="Calibri"/>
                <a:ea typeface="Calibri"/>
                <a:cs typeface="Calibri"/>
                <a:sym typeface="Calibri"/>
              </a:rPr>
              <a:t>(multi-label classification)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6355080" y="3794760"/>
            <a:ext cx="2514600" cy="2377440"/>
          </a:xfrm>
          <a:prstGeom prst="roundRect">
            <a:avLst>
              <a:gd fmla="val 3077" name="adj"/>
            </a:avLst>
          </a:prstGeom>
          <a:solidFill>
            <a:srgbClr val="F7F5F4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6355080" y="4023360"/>
            <a:ext cx="2514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111E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9B111E"/>
                </a:solidFill>
                <a:latin typeface="Cambria"/>
                <a:ea typeface="Cambria"/>
                <a:cs typeface="Cambria"/>
                <a:sym typeface="Cambria"/>
              </a:rPr>
              <a:t>4,973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6355080" y="4709160"/>
            <a:ext cx="2514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5F7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5F73"/>
                </a:solidFill>
                <a:latin typeface="Calibri"/>
                <a:ea typeface="Calibri"/>
                <a:cs typeface="Calibri"/>
                <a:sym typeface="Calibri"/>
              </a:rPr>
              <a:t>comments flagged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5F7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5F73"/>
                </a:solidFill>
                <a:latin typeface="Calibri"/>
                <a:ea typeface="Calibri"/>
                <a:cs typeface="Calibri"/>
                <a:sym typeface="Calibri"/>
              </a:rPr>
              <a:t>as toxic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9098280" y="3794760"/>
            <a:ext cx="2514600" cy="2377440"/>
          </a:xfrm>
          <a:prstGeom prst="roundRect">
            <a:avLst>
              <a:gd fmla="val 3077" name="adj"/>
            </a:avLst>
          </a:prstGeom>
          <a:solidFill>
            <a:srgbClr val="F7F5F4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9098280" y="4023360"/>
            <a:ext cx="2514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111E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9B111E"/>
                </a:solidFill>
                <a:latin typeface="Cambria"/>
                <a:ea typeface="Cambria"/>
                <a:cs typeface="Cambria"/>
                <a:sym typeface="Cambria"/>
              </a:rPr>
              <a:t>179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9098280" y="4709160"/>
            <a:ext cx="2514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5F7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5F73"/>
                </a:solidFill>
                <a:latin typeface="Calibri"/>
                <a:ea typeface="Calibri"/>
                <a:cs typeface="Calibri"/>
                <a:sym typeface="Calibri"/>
              </a:rPr>
              <a:t>comments flagged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5F7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5F73"/>
                </a:solidFill>
                <a:latin typeface="Calibri"/>
                <a:ea typeface="Calibri"/>
                <a:cs typeface="Calibri"/>
                <a:sym typeface="Calibri"/>
              </a:rPr>
              <a:t>as threats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"/>
          <p:cNvSpPr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2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1B2F"/>
                </a:solidFill>
                <a:latin typeface="Cambria"/>
                <a:ea typeface="Cambria"/>
                <a:cs typeface="Cambria"/>
                <a:sym typeface="Cambria"/>
              </a:rPr>
              <a:t>Text Preprocessing Pipeline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F73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5B5F73"/>
                </a:solidFill>
                <a:latin typeface="Calibri"/>
                <a:ea typeface="Calibri"/>
                <a:cs typeface="Calibri"/>
                <a:sym typeface="Calibri"/>
              </a:rPr>
              <a:t>Raw comments are noisy - cleaning is essential before any modeling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548640" y="1645920"/>
            <a:ext cx="2606040" cy="2286000"/>
          </a:xfrm>
          <a:prstGeom prst="roundRect">
            <a:avLst>
              <a:gd fmla="val 3200" name="adj"/>
            </a:avLst>
          </a:prstGeom>
          <a:solidFill>
            <a:srgbClr val="FBEAEA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"/>
          <p:cNvSpPr/>
          <p:nvPr/>
        </p:nvSpPr>
        <p:spPr>
          <a:xfrm>
            <a:off x="731520" y="1874520"/>
            <a:ext cx="457200" cy="457200"/>
          </a:xfrm>
          <a:prstGeom prst="ellipse">
            <a:avLst/>
          </a:prstGeom>
          <a:solidFill>
            <a:srgbClr val="9B11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731520" y="18745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731520" y="2468880"/>
            <a:ext cx="2240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2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1B2F"/>
                </a:solidFill>
                <a:latin typeface="Calibri"/>
                <a:ea typeface="Calibri"/>
                <a:cs typeface="Calibri"/>
                <a:sym typeface="Calibri"/>
              </a:rPr>
              <a:t>Lowercase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731520" y="2880360"/>
            <a:ext cx="22402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F7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5F73"/>
                </a:solidFill>
                <a:latin typeface="Calibri"/>
                <a:ea typeface="Calibri"/>
                <a:cs typeface="Calibri"/>
                <a:sym typeface="Calibri"/>
              </a:rPr>
              <a:t>Normalize case so "Bad" and "bad" are treated the same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3172968" y="2514600"/>
            <a:ext cx="274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111E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9B111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3474720" y="1645920"/>
            <a:ext cx="2606040" cy="2286000"/>
          </a:xfrm>
          <a:prstGeom prst="roundRect">
            <a:avLst>
              <a:gd fmla="val 3200" name="adj"/>
            </a:avLst>
          </a:prstGeom>
          <a:solidFill>
            <a:srgbClr val="F7F5F4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"/>
          <p:cNvSpPr/>
          <p:nvPr/>
        </p:nvSpPr>
        <p:spPr>
          <a:xfrm>
            <a:off x="3657600" y="1874520"/>
            <a:ext cx="457200" cy="457200"/>
          </a:xfrm>
          <a:prstGeom prst="ellipse">
            <a:avLst/>
          </a:prstGeom>
          <a:solidFill>
            <a:srgbClr val="9B11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"/>
          <p:cNvSpPr/>
          <p:nvPr/>
        </p:nvSpPr>
        <p:spPr>
          <a:xfrm>
            <a:off x="3657600" y="18745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3657600" y="2468880"/>
            <a:ext cx="2240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2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1B2F"/>
                </a:solidFill>
                <a:latin typeface="Calibri"/>
                <a:ea typeface="Calibri"/>
                <a:cs typeface="Calibri"/>
                <a:sym typeface="Calibri"/>
              </a:rPr>
              <a:t>Remove URLs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3657600" y="2880360"/>
            <a:ext cx="22402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F7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5F73"/>
                </a:solidFill>
                <a:latin typeface="Calibri"/>
                <a:ea typeface="Calibri"/>
                <a:cs typeface="Calibri"/>
                <a:sym typeface="Calibri"/>
              </a:rPr>
              <a:t>Strip out http/https links using regex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6099048" y="2514600"/>
            <a:ext cx="274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111E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9B111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6400800" y="1645920"/>
            <a:ext cx="2606040" cy="2286000"/>
          </a:xfrm>
          <a:prstGeom prst="roundRect">
            <a:avLst>
              <a:gd fmla="val 3200" name="adj"/>
            </a:avLst>
          </a:prstGeom>
          <a:solidFill>
            <a:srgbClr val="FBEAEA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6583680" y="1874520"/>
            <a:ext cx="457200" cy="457200"/>
          </a:xfrm>
          <a:prstGeom prst="ellipse">
            <a:avLst/>
          </a:prstGeom>
          <a:solidFill>
            <a:srgbClr val="9B11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6583680" y="18745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6583680" y="2468880"/>
            <a:ext cx="2240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2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1B2F"/>
                </a:solidFill>
                <a:latin typeface="Calibri"/>
                <a:ea typeface="Calibri"/>
                <a:cs typeface="Calibri"/>
                <a:sym typeface="Calibri"/>
              </a:rPr>
              <a:t>Strip symbols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6583680" y="2880360"/>
            <a:ext cx="22402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F7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5F73"/>
                </a:solidFill>
                <a:latin typeface="Calibri"/>
                <a:ea typeface="Calibri"/>
                <a:cs typeface="Calibri"/>
                <a:sym typeface="Calibri"/>
              </a:rPr>
              <a:t>Remove punctuation &amp; non-letter characters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9025128" y="2514600"/>
            <a:ext cx="274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111E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9B111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9326880" y="1645920"/>
            <a:ext cx="2606040" cy="2286000"/>
          </a:xfrm>
          <a:prstGeom prst="roundRect">
            <a:avLst>
              <a:gd fmla="val 3200" name="adj"/>
            </a:avLst>
          </a:prstGeom>
          <a:solidFill>
            <a:srgbClr val="F7F5F4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9509760" y="1874520"/>
            <a:ext cx="457200" cy="457200"/>
          </a:xfrm>
          <a:prstGeom prst="ellipse">
            <a:avLst/>
          </a:prstGeom>
          <a:solidFill>
            <a:srgbClr val="9B11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"/>
          <p:cNvSpPr/>
          <p:nvPr/>
        </p:nvSpPr>
        <p:spPr>
          <a:xfrm>
            <a:off x="9509760" y="18745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9509760" y="2468880"/>
            <a:ext cx="2240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2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1B2F"/>
                </a:solidFill>
                <a:latin typeface="Calibri"/>
                <a:ea typeface="Calibri"/>
                <a:cs typeface="Calibri"/>
                <a:sym typeface="Calibri"/>
              </a:rPr>
              <a:t>Remove stopwords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9509760" y="2880360"/>
            <a:ext cx="22402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F7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5F73"/>
                </a:solidFill>
                <a:latin typeface="Calibri"/>
                <a:ea typeface="Calibri"/>
                <a:cs typeface="Calibri"/>
                <a:sym typeface="Calibri"/>
              </a:rPr>
              <a:t>Drop common words ("the", "is") using NLTK's stopword list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548640" y="4206240"/>
            <a:ext cx="11064240" cy="1737360"/>
          </a:xfrm>
          <a:prstGeom prst="roundRect">
            <a:avLst>
              <a:gd fmla="val 4211" name="adj"/>
            </a:avLst>
          </a:prstGeom>
          <a:solidFill>
            <a:srgbClr val="6E0D16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914400" y="44348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B8B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2B8BE"/>
                </a:solidFill>
                <a:latin typeface="Calibri"/>
                <a:ea typeface="Calibri"/>
                <a:cs typeface="Calibri"/>
                <a:sym typeface="Calibri"/>
              </a:rPr>
              <a:t>clean_text column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914400" y="4800600"/>
            <a:ext cx="103327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Every comment now has a normalized, lowercase, stopword-free version stored in a new clean_text column - this is the input fed into the TF-IDF vectorizer downstream.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"/>
          <p:cNvSpPr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2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1B2F"/>
                </a:solidFill>
                <a:latin typeface="Cambria"/>
                <a:ea typeface="Cambria"/>
                <a:cs typeface="Cambria"/>
                <a:sym typeface="Cambria"/>
              </a:rPr>
              <a:t>Sentiment &amp; Emotion Analysis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548640" y="1234440"/>
            <a:ext cx="5394960" cy="4937760"/>
          </a:xfrm>
          <a:prstGeom prst="roundRect">
            <a:avLst>
              <a:gd fmla="val 1481" name="adj"/>
            </a:avLst>
          </a:prstGeom>
          <a:solidFill>
            <a:srgbClr val="F7F5F4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"/>
          <p:cNvSpPr/>
          <p:nvPr/>
        </p:nvSpPr>
        <p:spPr>
          <a:xfrm>
            <a:off x="868680" y="150876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111E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9B111E"/>
                </a:solidFill>
                <a:latin typeface="Cambria"/>
                <a:ea typeface="Cambria"/>
                <a:cs typeface="Cambria"/>
                <a:sym typeface="Cambria"/>
              </a:rPr>
              <a:t>VADER Sentiment Scoring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868680" y="1965960"/>
            <a:ext cx="48463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1B2F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B1B2F"/>
                </a:solidFill>
                <a:latin typeface="Calibri"/>
                <a:ea typeface="Calibri"/>
                <a:cs typeface="Calibri"/>
                <a:sym typeface="Calibri"/>
              </a:rPr>
              <a:t>Each comment gets a compound sentiment score from NLTK's VADER analyzer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B1B2F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B1B2F"/>
                </a:solidFill>
                <a:latin typeface="Calibri"/>
                <a:ea typeface="Calibri"/>
                <a:cs typeface="Calibri"/>
                <a:sym typeface="Calibri"/>
              </a:rPr>
              <a:t>Score &gt; 0 → Positive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B1B2F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B1B2F"/>
                </a:solidFill>
                <a:latin typeface="Calibri"/>
                <a:ea typeface="Calibri"/>
                <a:cs typeface="Calibri"/>
                <a:sym typeface="Calibri"/>
              </a:rPr>
              <a:t>Score &lt; 0 → Negative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B1B2F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B1B2F"/>
                </a:solidFill>
                <a:latin typeface="Calibri"/>
                <a:ea typeface="Calibri"/>
                <a:cs typeface="Calibri"/>
                <a:sym typeface="Calibri"/>
              </a:rPr>
              <a:t>Score = 0 → Neutral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868680" y="3931920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2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1B2F"/>
                </a:solidFill>
                <a:latin typeface="Calibri"/>
                <a:ea typeface="Calibri"/>
                <a:cs typeface="Calibri"/>
                <a:sym typeface="Calibri"/>
              </a:rPr>
              <a:t>Why VADER?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868680" y="4251960"/>
            <a:ext cx="484632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F73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5B5F73"/>
                </a:solidFill>
                <a:latin typeface="Calibri"/>
                <a:ea typeface="Calibri"/>
                <a:cs typeface="Calibri"/>
                <a:sym typeface="Calibri"/>
              </a:rPr>
              <a:t>VADER is tuned for short, informal social text - well suited to online comments compared to lexicons built for formal writing.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6217920" y="1234440"/>
            <a:ext cx="5394960" cy="4937760"/>
          </a:xfrm>
          <a:prstGeom prst="roundRect">
            <a:avLst>
              <a:gd fmla="val 1481" name="adj"/>
            </a:avLst>
          </a:prstGeom>
          <a:solidFill>
            <a:srgbClr val="FBEAEA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6537960" y="150876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111E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9B111E"/>
                </a:solidFill>
                <a:latin typeface="Cambria"/>
                <a:ea typeface="Cambria"/>
                <a:cs typeface="Cambria"/>
                <a:sym typeface="Cambria"/>
              </a:rPr>
              <a:t>NRC Emotion Mining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6537960" y="1965960"/>
            <a:ext cx="484632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1B2F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B1B2F"/>
                </a:solidFill>
                <a:latin typeface="Calibri"/>
                <a:ea typeface="Calibri"/>
                <a:cs typeface="Calibri"/>
                <a:sym typeface="Calibri"/>
              </a:rPr>
              <a:t>The NRCLex library maps words to 8 core emotions (anger, fear, joy, trust, etc.)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B1B2F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B1B2F"/>
                </a:solidFill>
                <a:latin typeface="Calibri"/>
                <a:ea typeface="Calibri"/>
                <a:cs typeface="Calibri"/>
                <a:sym typeface="Calibri"/>
              </a:rPr>
              <a:t>For each comment, raw emotion scores are computed and the dominant emotion is extracted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B1B2F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B1B2F"/>
                </a:solidFill>
                <a:latin typeface="Calibri"/>
                <a:ea typeface="Calibri"/>
                <a:cs typeface="Calibri"/>
                <a:sym typeface="Calibri"/>
              </a:rPr>
              <a:t>Comments with no detected emotion words default to "Neutral"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6537960" y="4160520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2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1B2F"/>
                </a:solidFill>
                <a:latin typeface="Calibri"/>
                <a:ea typeface="Calibri"/>
                <a:cs typeface="Calibri"/>
                <a:sym typeface="Calibri"/>
              </a:rPr>
              <a:t>Why it adds value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6537960" y="4480560"/>
            <a:ext cx="48463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F73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5B5F73"/>
                </a:solidFill>
                <a:latin typeface="Calibri"/>
                <a:ea typeface="Calibri"/>
                <a:cs typeface="Calibri"/>
                <a:sym typeface="Calibri"/>
              </a:rPr>
              <a:t>Sentiment alone (positive/negative) is coarse. Emotion mining adds nuance - anger and disgust are far more associated with toxic comments than sadness or fear.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"/>
          <p:cNvSpPr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2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1B2F"/>
                </a:solidFill>
                <a:latin typeface="Cambria"/>
                <a:ea typeface="Cambria"/>
                <a:cs typeface="Cambria"/>
                <a:sym typeface="Cambria"/>
              </a:rPr>
              <a:t>The Toxicity Landscape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F73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5B5F73"/>
                </a:solidFill>
                <a:latin typeface="Calibri"/>
                <a:ea typeface="Calibri"/>
                <a:cs typeface="Calibri"/>
                <a:sym typeface="Calibri"/>
              </a:rPr>
              <a:t>Comment counts by toxicity category - highly imbalanced across labels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0" name="Google Shape;140;p6"/>
          <p:cNvGraphicFramePr/>
          <p:nvPr/>
        </p:nvGraphicFramePr>
        <p:xfrm>
          <a:off x="548640" y="1463040"/>
          <a:ext cx="7040880" cy="475488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41" name="Google Shape;141;p6"/>
          <p:cNvSpPr/>
          <p:nvPr/>
        </p:nvSpPr>
        <p:spPr>
          <a:xfrm>
            <a:off x="7818120" y="1463040"/>
            <a:ext cx="3794760" cy="4754880"/>
          </a:xfrm>
          <a:prstGeom prst="roundRect">
            <a:avLst>
              <a:gd fmla="val 1928" name="adj"/>
            </a:avLst>
          </a:prstGeom>
          <a:solidFill>
            <a:srgbClr val="6E0D16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"/>
          <p:cNvSpPr/>
          <p:nvPr/>
        </p:nvSpPr>
        <p:spPr>
          <a:xfrm>
            <a:off x="8138160" y="173736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B8BE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2B8BE"/>
                </a:solidFill>
                <a:latin typeface="Cambria"/>
                <a:ea typeface="Cambria"/>
                <a:cs typeface="Cambria"/>
                <a:sym typeface="Cambria"/>
              </a:rPr>
              <a:t>Key takeaway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8138160" y="2194560"/>
            <a:ext cx="3200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"toxic" is by far the most common label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"threat" and "identity_hate" are rare, making them hard to learn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This class imbalance is a key challenge for the classifiers built next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"/>
          <p:cNvSpPr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2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1B2F"/>
                </a:solidFill>
                <a:latin typeface="Cambria"/>
                <a:ea typeface="Cambria"/>
                <a:cs typeface="Cambria"/>
                <a:sym typeface="Cambria"/>
              </a:rPr>
              <a:t>Modeling Pipeline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548640" y="1417320"/>
            <a:ext cx="7863840" cy="914400"/>
          </a:xfrm>
          <a:prstGeom prst="roundRect">
            <a:avLst>
              <a:gd fmla="val 8000" name="adj"/>
            </a:avLst>
          </a:prstGeom>
          <a:solidFill>
            <a:srgbClr val="F7F5F4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777240" y="1645920"/>
            <a:ext cx="457200" cy="457200"/>
          </a:xfrm>
          <a:prstGeom prst="ellipse">
            <a:avLst/>
          </a:prstGeom>
          <a:solidFill>
            <a:srgbClr val="9B11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777240" y="16459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1463040" y="1508760"/>
            <a:ext cx="6766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2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1B2F"/>
                </a:solidFill>
                <a:latin typeface="Calibri"/>
                <a:ea typeface="Calibri"/>
                <a:cs typeface="Calibri"/>
                <a:sym typeface="Calibri"/>
              </a:rPr>
              <a:t>clean_text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1463040" y="1874520"/>
            <a:ext cx="6766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F7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5F73"/>
                </a:solidFill>
                <a:latin typeface="Calibri"/>
                <a:ea typeface="Calibri"/>
                <a:cs typeface="Calibri"/>
                <a:sym typeface="Calibri"/>
              </a:rPr>
              <a:t>Preprocessed comment text (input feature)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777240" y="233172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111E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9B111E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548640" y="2587752"/>
            <a:ext cx="7863840" cy="914400"/>
          </a:xfrm>
          <a:prstGeom prst="roundRect">
            <a:avLst>
              <a:gd fmla="val 8000" name="adj"/>
            </a:avLst>
          </a:prstGeom>
          <a:solidFill>
            <a:srgbClr val="FBEAEA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"/>
          <p:cNvSpPr/>
          <p:nvPr/>
        </p:nvSpPr>
        <p:spPr>
          <a:xfrm>
            <a:off x="777240" y="2816352"/>
            <a:ext cx="457200" cy="457200"/>
          </a:xfrm>
          <a:prstGeom prst="ellipse">
            <a:avLst/>
          </a:prstGeom>
          <a:solidFill>
            <a:srgbClr val="9B11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"/>
          <p:cNvSpPr/>
          <p:nvPr/>
        </p:nvSpPr>
        <p:spPr>
          <a:xfrm>
            <a:off x="777240" y="281635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1463040" y="2679192"/>
            <a:ext cx="6766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2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1B2F"/>
                </a:solidFill>
                <a:latin typeface="Calibri"/>
                <a:ea typeface="Calibri"/>
                <a:cs typeface="Calibri"/>
                <a:sym typeface="Calibri"/>
              </a:rPr>
              <a:t>TF-IDF Vectorizer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1463040" y="3044952"/>
            <a:ext cx="6766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F7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5F73"/>
                </a:solidFill>
                <a:latin typeface="Calibri"/>
                <a:ea typeface="Calibri"/>
                <a:cs typeface="Calibri"/>
                <a:sym typeface="Calibri"/>
              </a:rPr>
              <a:t>Converts text to numeric features (top 10,000 terms)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777240" y="350215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111E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9B111E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548640" y="3758184"/>
            <a:ext cx="7863840" cy="914400"/>
          </a:xfrm>
          <a:prstGeom prst="roundRect">
            <a:avLst>
              <a:gd fmla="val 8000" name="adj"/>
            </a:avLst>
          </a:prstGeom>
          <a:solidFill>
            <a:srgbClr val="F7F5F4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"/>
          <p:cNvSpPr/>
          <p:nvPr/>
        </p:nvSpPr>
        <p:spPr>
          <a:xfrm>
            <a:off x="777240" y="3986784"/>
            <a:ext cx="457200" cy="457200"/>
          </a:xfrm>
          <a:prstGeom prst="ellipse">
            <a:avLst/>
          </a:prstGeom>
          <a:solidFill>
            <a:srgbClr val="9B11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"/>
          <p:cNvSpPr/>
          <p:nvPr/>
        </p:nvSpPr>
        <p:spPr>
          <a:xfrm>
            <a:off x="777240" y="398678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1463040" y="3849624"/>
            <a:ext cx="6766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2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1B2F"/>
                </a:solidFill>
                <a:latin typeface="Calibri"/>
                <a:ea typeface="Calibri"/>
                <a:cs typeface="Calibri"/>
                <a:sym typeface="Calibri"/>
              </a:rPr>
              <a:t>Train-Test Split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1463040" y="4215384"/>
            <a:ext cx="6766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F7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5F73"/>
                </a:solidFill>
                <a:latin typeface="Calibri"/>
                <a:ea typeface="Calibri"/>
                <a:cs typeface="Calibri"/>
                <a:sym typeface="Calibri"/>
              </a:rPr>
              <a:t>80% train / 20% test, random_state=42 for reproducibility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777240" y="4672584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111E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9B111E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548640" y="4928616"/>
            <a:ext cx="7863840" cy="914400"/>
          </a:xfrm>
          <a:prstGeom prst="roundRect">
            <a:avLst>
              <a:gd fmla="val 8000" name="adj"/>
            </a:avLst>
          </a:prstGeom>
          <a:solidFill>
            <a:srgbClr val="FBEAEA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777240" y="5157216"/>
            <a:ext cx="457200" cy="457200"/>
          </a:xfrm>
          <a:prstGeom prst="ellipse">
            <a:avLst/>
          </a:prstGeom>
          <a:solidFill>
            <a:srgbClr val="9B11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"/>
          <p:cNvSpPr/>
          <p:nvPr/>
        </p:nvSpPr>
        <p:spPr>
          <a:xfrm>
            <a:off x="777240" y="515721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1463040" y="5020056"/>
            <a:ext cx="6766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2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1B2F"/>
                </a:solidFill>
                <a:latin typeface="Calibri"/>
                <a:ea typeface="Calibri"/>
                <a:cs typeface="Calibri"/>
                <a:sym typeface="Calibri"/>
              </a:rPr>
              <a:t>OneVsRestClassifier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1463040" y="5385816"/>
            <a:ext cx="6766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F7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5F73"/>
                </a:solidFill>
                <a:latin typeface="Calibri"/>
                <a:ea typeface="Calibri"/>
                <a:cs typeface="Calibri"/>
                <a:sym typeface="Calibri"/>
              </a:rPr>
              <a:t>Wraps a base model to handle 6 independent binary labels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8686800" y="1417320"/>
            <a:ext cx="2926080" cy="4754880"/>
          </a:xfrm>
          <a:prstGeom prst="roundRect">
            <a:avLst>
              <a:gd fmla="val 2500" name="adj"/>
            </a:avLst>
          </a:prstGeom>
          <a:solidFill>
            <a:srgbClr val="9B111E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"/>
          <p:cNvSpPr/>
          <p:nvPr/>
        </p:nvSpPr>
        <p:spPr>
          <a:xfrm>
            <a:off x="8915400" y="169164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Why multi-label?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8915400" y="2331720"/>
            <a:ext cx="246888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D6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2D6D9"/>
                </a:solidFill>
                <a:latin typeface="Calibri"/>
                <a:ea typeface="Calibri"/>
                <a:cs typeface="Calibri"/>
                <a:sym typeface="Calibri"/>
              </a:rPr>
              <a:t>A single comment can be both "toxic" AND "insult" AND "obscene" at once. OneVsRestClassifier trains one binary classifier per label, so all 6 can fire independently.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"/>
          <p:cNvSpPr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2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1B2F"/>
                </a:solidFill>
                <a:latin typeface="Cambria"/>
                <a:ea typeface="Cambria"/>
                <a:cs typeface="Cambria"/>
                <a:sym typeface="Cambria"/>
              </a:rPr>
              <a:t>Comparing Six Models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F73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5B5F73"/>
                </a:solidFill>
                <a:latin typeface="Calibri"/>
                <a:ea typeface="Calibri"/>
                <a:cs typeface="Calibri"/>
                <a:sym typeface="Calibri"/>
              </a:rPr>
              <a:t>Same features, same split - evaluated on accuracy, precision, recall, and F1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3" name="Google Shape;183;p8"/>
          <p:cNvGraphicFramePr/>
          <p:nvPr/>
        </p:nvGraphicFramePr>
        <p:xfrm>
          <a:off x="548640" y="15087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{1CCDDE89-4F15-4C97-B22F-FC51D6615A46}</a:tableStyleId>
              </a:tblPr>
              <a:tblGrid>
                <a:gridCol w="3017525"/>
                <a:gridCol w="2011675"/>
                <a:gridCol w="2011675"/>
                <a:gridCol w="2011675"/>
                <a:gridCol w="2011675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E0D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Accuracy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E0D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Precision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E0D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Recall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E0D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F1 Score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E0D1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0D16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6E0D1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Random Forest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0D16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6E0D1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0.9121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0D16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6E0D1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0.7973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0D16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6E0D1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0.5797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0D16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6E0D1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0.6608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A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2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B1B2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Logistic Regression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2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B1B2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0.9096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2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B1B2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0.8501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2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B1B2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0.4549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2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B1B2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0.5910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2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B1B2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Linear SVM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2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B1B2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0.9095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2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B1B2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0.7975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2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B1B2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0.5956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2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B1B2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0.6797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5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2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B1B2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Gradient Boosting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2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B1B2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0.9054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2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B1B2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0.8371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2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B1B2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0.4327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2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B1B2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0.5648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2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B1B2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Naive Bayes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2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B1B2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0.9039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2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B1B2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0.8281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2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B1B2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0.3420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2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B1B2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0.4837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5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2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B1B2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Decision Tree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2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B1B2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0.8835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2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B1B2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0.6419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2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B1B2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0.6280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2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B1B2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0.6348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1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4" name="Google Shape;184;p8"/>
          <p:cNvSpPr/>
          <p:nvPr/>
        </p:nvSpPr>
        <p:spPr>
          <a:xfrm>
            <a:off x="548640" y="4572000"/>
            <a:ext cx="11064240" cy="1600200"/>
          </a:xfrm>
          <a:prstGeom prst="roundRect">
            <a:avLst>
              <a:gd fmla="val 4571" name="adj"/>
            </a:avLst>
          </a:prstGeom>
          <a:solidFill>
            <a:srgbClr val="F7F5F4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"/>
          <p:cNvSpPr/>
          <p:nvPr/>
        </p:nvSpPr>
        <p:spPr>
          <a:xfrm>
            <a:off x="868680" y="4754880"/>
            <a:ext cx="10424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111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9B111E"/>
                </a:solidFill>
                <a:latin typeface="Calibri"/>
                <a:ea typeface="Calibri"/>
                <a:cs typeface="Calibri"/>
                <a:sym typeface="Calibri"/>
              </a:rPr>
              <a:t>Reading the results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868680" y="5120640"/>
            <a:ext cx="104241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2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1B2F"/>
                </a:solidFill>
                <a:latin typeface="Calibri"/>
                <a:ea typeface="Calibri"/>
                <a:cs typeface="Calibri"/>
                <a:sym typeface="Calibri"/>
              </a:rPr>
              <a:t>All models land around 88-91% accuracy - but accuracy is misleading here because the dataset is imbalanced (most comments aren't toxic). F1 score - which balances precision and recall - is the more trustworthy metric, and it favors Linear SVM and Random Forest.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"/>
          <p:cNvSpPr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2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1B2F"/>
                </a:solidFill>
                <a:latin typeface="Cambria"/>
                <a:ea typeface="Cambria"/>
                <a:cs typeface="Cambria"/>
                <a:sym typeface="Cambria"/>
              </a:rPr>
              <a:t>Accuracy vs. F1 Score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3" name="Google Shape;193;p9"/>
          <p:cNvGraphicFramePr/>
          <p:nvPr/>
        </p:nvGraphicFramePr>
        <p:xfrm>
          <a:off x="548640" y="1371600"/>
          <a:ext cx="7315200" cy="484632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94" name="Google Shape;194;p9"/>
          <p:cNvSpPr/>
          <p:nvPr/>
        </p:nvSpPr>
        <p:spPr>
          <a:xfrm>
            <a:off x="8138160" y="1371600"/>
            <a:ext cx="3474720" cy="4846320"/>
          </a:xfrm>
          <a:prstGeom prst="roundRect">
            <a:avLst>
              <a:gd fmla="val 2105" name="adj"/>
            </a:avLst>
          </a:prstGeom>
          <a:solidFill>
            <a:srgbClr val="9B111E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9"/>
          <p:cNvSpPr/>
          <p:nvPr/>
        </p:nvSpPr>
        <p:spPr>
          <a:xfrm>
            <a:off x="8412480" y="160020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B8B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2B8BE"/>
                </a:solidFill>
                <a:latin typeface="Calibri"/>
                <a:ea typeface="Calibri"/>
                <a:cs typeface="Calibri"/>
                <a:sym typeface="Calibri"/>
              </a:rPr>
              <a:t>BEST MODEL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8412480" y="1920240"/>
            <a:ext cx="2926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Random Forest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8412480" y="2514600"/>
            <a:ext cx="2926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91.2%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8412480" y="3291840"/>
            <a:ext cx="2926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D6D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2D6D9"/>
                </a:solidFill>
                <a:latin typeface="Calibri"/>
                <a:ea typeface="Calibri"/>
                <a:cs typeface="Calibri"/>
                <a:sym typeface="Calibri"/>
              </a:rPr>
              <a:t>accuracy - highest of all six models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8412480" y="4023360"/>
            <a:ext cx="29260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D6D9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F2D6D9"/>
                </a:solidFill>
                <a:latin typeface="Calibri"/>
                <a:ea typeface="Calibri"/>
                <a:cs typeface="Calibri"/>
                <a:sym typeface="Calibri"/>
              </a:rPr>
              <a:t>Saved for deployment as best_model.pkl, alongside the fitted TF-IDF vectorizer.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8412480" y="5212080"/>
            <a:ext cx="29260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D6D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2D6D9"/>
                </a:solidFill>
                <a:latin typeface="Calibri"/>
                <a:ea typeface="Calibri"/>
                <a:cs typeface="Calibri"/>
                <a:sym typeface="Calibri"/>
              </a:rPr>
              <a:t>Note: Linear SVM narrowly leads on F1 (0.680 vs 0.661) - a reasonable alternate pick if recall matters more than raw accuracy.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E0D16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9B111E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From Notebook to App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9CC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E8C9CC"/>
                </a:solidFill>
                <a:latin typeface="Calibri"/>
                <a:ea typeface="Calibri"/>
                <a:cs typeface="Calibri"/>
                <a:sym typeface="Calibri"/>
              </a:rPr>
              <a:t>The trained model is deployed as an interactive Streamlit application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548640" y="1920240"/>
            <a:ext cx="7315200" cy="822960"/>
          </a:xfrm>
          <a:prstGeom prst="roundRect">
            <a:avLst>
              <a:gd fmla="val 8889" name="adj"/>
            </a:avLst>
          </a:prstGeom>
          <a:solidFill>
            <a:srgbClr val="FFFFFF">
              <a:alpha val="92156"/>
            </a:srgbClr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0"/>
          <p:cNvSpPr/>
          <p:nvPr/>
        </p:nvSpPr>
        <p:spPr>
          <a:xfrm>
            <a:off x="777240" y="2103120"/>
            <a:ext cx="457200" cy="457200"/>
          </a:xfrm>
          <a:prstGeom prst="ellipse">
            <a:avLst/>
          </a:prstGeom>
          <a:solidFill>
            <a:srgbClr val="F2B8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0"/>
          <p:cNvSpPr/>
          <p:nvPr/>
        </p:nvSpPr>
        <p:spPr>
          <a:xfrm>
            <a:off x="777240" y="21031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0D16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6E0D16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1417320" y="1993392"/>
            <a:ext cx="6309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Package artifacts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1417320" y="2331720"/>
            <a:ext cx="6309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9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8C9CC"/>
                </a:solidFill>
                <a:latin typeface="Calibri"/>
                <a:ea typeface="Calibri"/>
                <a:cs typeface="Calibri"/>
                <a:sym typeface="Calibri"/>
              </a:rPr>
              <a:t>best_model.pkl + tfidf.pkl saved via joblib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548640" y="2971800"/>
            <a:ext cx="7315200" cy="822960"/>
          </a:xfrm>
          <a:prstGeom prst="roundRect">
            <a:avLst>
              <a:gd fmla="val 8889" name="adj"/>
            </a:avLst>
          </a:prstGeom>
          <a:solidFill>
            <a:srgbClr val="FFFFFF">
              <a:alpha val="92156"/>
            </a:srgbClr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0"/>
          <p:cNvSpPr/>
          <p:nvPr/>
        </p:nvSpPr>
        <p:spPr>
          <a:xfrm>
            <a:off x="777240" y="3154680"/>
            <a:ext cx="457200" cy="457200"/>
          </a:xfrm>
          <a:prstGeom prst="ellipse">
            <a:avLst/>
          </a:prstGeom>
          <a:solidFill>
            <a:srgbClr val="F2B8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0"/>
          <p:cNvSpPr/>
          <p:nvPr/>
        </p:nvSpPr>
        <p:spPr>
          <a:xfrm>
            <a:off x="777240" y="31546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0D16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6E0D16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1417320" y="3044952"/>
            <a:ext cx="6309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Build app.py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1417320" y="3383280"/>
            <a:ext cx="6309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9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8C9CC"/>
                </a:solidFill>
                <a:latin typeface="Calibri"/>
                <a:ea typeface="Calibri"/>
                <a:cs typeface="Calibri"/>
                <a:sym typeface="Calibri"/>
              </a:rPr>
              <a:t>Streamlit UI: text box in, prediction out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548640" y="4023360"/>
            <a:ext cx="7315200" cy="822960"/>
          </a:xfrm>
          <a:prstGeom prst="roundRect">
            <a:avLst>
              <a:gd fmla="val 8889" name="adj"/>
            </a:avLst>
          </a:prstGeom>
          <a:solidFill>
            <a:srgbClr val="FFFFFF">
              <a:alpha val="92156"/>
            </a:srgbClr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0"/>
          <p:cNvSpPr/>
          <p:nvPr/>
        </p:nvSpPr>
        <p:spPr>
          <a:xfrm>
            <a:off x="777240" y="4206240"/>
            <a:ext cx="457200" cy="457200"/>
          </a:xfrm>
          <a:prstGeom prst="ellipse">
            <a:avLst/>
          </a:prstGeom>
          <a:solidFill>
            <a:srgbClr val="F2B8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0"/>
          <p:cNvSpPr/>
          <p:nvPr/>
        </p:nvSpPr>
        <p:spPr>
          <a:xfrm>
            <a:off x="777240" y="42062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0D16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6E0D16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1417320" y="4096512"/>
            <a:ext cx="6309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Define requirements.txt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1417320" y="4434840"/>
            <a:ext cx="6309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9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8C9CC"/>
                </a:solidFill>
                <a:latin typeface="Calibri"/>
                <a:ea typeface="Calibri"/>
                <a:cs typeface="Calibri"/>
                <a:sym typeface="Calibri"/>
              </a:rPr>
              <a:t>Pinned dependencies for reproducible installs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548640" y="5074920"/>
            <a:ext cx="7315200" cy="822960"/>
          </a:xfrm>
          <a:prstGeom prst="roundRect">
            <a:avLst>
              <a:gd fmla="val 8889" name="adj"/>
            </a:avLst>
          </a:prstGeom>
          <a:solidFill>
            <a:srgbClr val="FFFFFF">
              <a:alpha val="92156"/>
            </a:srgbClr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0"/>
          <p:cNvSpPr/>
          <p:nvPr/>
        </p:nvSpPr>
        <p:spPr>
          <a:xfrm>
            <a:off x="777240" y="5257800"/>
            <a:ext cx="457200" cy="457200"/>
          </a:xfrm>
          <a:prstGeom prst="ellipse">
            <a:avLst/>
          </a:prstGeom>
          <a:solidFill>
            <a:srgbClr val="F2B8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0"/>
          <p:cNvSpPr/>
          <p:nvPr/>
        </p:nvSpPr>
        <p:spPr>
          <a:xfrm>
            <a:off x="777240" y="52578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0D16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6E0D16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1417320" y="5148072"/>
            <a:ext cx="6309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Launch &amp; tunnel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1417320" y="5486400"/>
            <a:ext cx="6309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9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8C9CC"/>
                </a:solidFill>
                <a:latin typeface="Calibri"/>
                <a:ea typeface="Calibri"/>
                <a:cs typeface="Calibri"/>
                <a:sym typeface="Calibri"/>
              </a:rPr>
              <a:t>streamlit run + localtunnel for a shareable public URL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8229600" y="1920240"/>
            <a:ext cx="3383280" cy="4206240"/>
          </a:xfrm>
          <a:prstGeom prst="roundRect">
            <a:avLst>
              <a:gd fmla="val 2162" name="adj"/>
            </a:avLst>
          </a:prstGeom>
          <a:solidFill>
            <a:srgbClr val="9B111E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0"/>
          <p:cNvSpPr/>
          <p:nvPr/>
        </p:nvSpPr>
        <p:spPr>
          <a:xfrm>
            <a:off x="8503920" y="2148840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B8BE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2B8BE"/>
                </a:solidFill>
                <a:latin typeface="Cambria"/>
                <a:ea typeface="Cambria"/>
                <a:cs typeface="Cambria"/>
                <a:sym typeface="Cambria"/>
              </a:rPr>
              <a:t>App features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8503920" y="2560320"/>
            <a:ext cx="283464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Simple text area for input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One-click prediction button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Runs entirely on the saved TF-IDF + classifier pair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Shareable via a public tunnel link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2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1B2F"/>
                </a:solidFill>
                <a:latin typeface="Cambria"/>
                <a:ea typeface="Cambria"/>
                <a:cs typeface="Cambria"/>
                <a:sym typeface="Cambria"/>
              </a:rPr>
              <a:t>Key Takeaways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548640" y="1417320"/>
            <a:ext cx="5349240" cy="2194560"/>
          </a:xfrm>
          <a:prstGeom prst="roundRect">
            <a:avLst>
              <a:gd fmla="val 3333" name="adj"/>
            </a:avLst>
          </a:prstGeom>
          <a:solidFill>
            <a:srgbClr val="FBEAEA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1"/>
          <p:cNvSpPr/>
          <p:nvPr/>
        </p:nvSpPr>
        <p:spPr>
          <a:xfrm>
            <a:off x="868680" y="1645920"/>
            <a:ext cx="4709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111E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9B111E"/>
                </a:solidFill>
                <a:latin typeface="Cambria"/>
                <a:ea typeface="Cambria"/>
                <a:cs typeface="Cambria"/>
                <a:sym typeface="Cambria"/>
              </a:rPr>
              <a:t>Multi-label toxicity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868680" y="2194560"/>
            <a:ext cx="470916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2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1B2F"/>
                </a:solidFill>
                <a:latin typeface="Calibri"/>
                <a:ea typeface="Calibri"/>
                <a:cs typeface="Calibri"/>
                <a:sym typeface="Calibri"/>
              </a:rPr>
              <a:t>Comments can carry several toxic labels at once - handled via OneVsRestClassifier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6172200" y="1417320"/>
            <a:ext cx="5349240" cy="2194560"/>
          </a:xfrm>
          <a:prstGeom prst="roundRect">
            <a:avLst>
              <a:gd fmla="val 3333" name="adj"/>
            </a:avLst>
          </a:prstGeom>
          <a:solidFill>
            <a:srgbClr val="FBEAEA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1"/>
          <p:cNvSpPr/>
          <p:nvPr/>
        </p:nvSpPr>
        <p:spPr>
          <a:xfrm>
            <a:off x="6492240" y="1645920"/>
            <a:ext cx="4709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111E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9B111E"/>
                </a:solidFill>
                <a:latin typeface="Cambria"/>
                <a:ea typeface="Cambria"/>
                <a:cs typeface="Cambria"/>
                <a:sym typeface="Cambria"/>
              </a:rPr>
              <a:t>Sentiment + emotion add depth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1"/>
          <p:cNvSpPr/>
          <p:nvPr/>
        </p:nvSpPr>
        <p:spPr>
          <a:xfrm>
            <a:off x="6492240" y="2194560"/>
            <a:ext cx="470916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2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1B2F"/>
                </a:solidFill>
                <a:latin typeface="Calibri"/>
                <a:ea typeface="Calibri"/>
                <a:cs typeface="Calibri"/>
                <a:sym typeface="Calibri"/>
              </a:rPr>
              <a:t>VADER and NRCLex give interpretable context beyond raw toxicity flags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1"/>
          <p:cNvSpPr/>
          <p:nvPr/>
        </p:nvSpPr>
        <p:spPr>
          <a:xfrm>
            <a:off x="548640" y="3886200"/>
            <a:ext cx="5349240" cy="2194560"/>
          </a:xfrm>
          <a:prstGeom prst="roundRect">
            <a:avLst>
              <a:gd fmla="val 3333" name="adj"/>
            </a:avLst>
          </a:prstGeom>
          <a:solidFill>
            <a:srgbClr val="F7F5F4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1"/>
          <p:cNvSpPr/>
          <p:nvPr/>
        </p:nvSpPr>
        <p:spPr>
          <a:xfrm>
            <a:off x="868680" y="4114800"/>
            <a:ext cx="4709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111E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9B111E"/>
                </a:solidFill>
                <a:latin typeface="Cambria"/>
                <a:ea typeface="Cambria"/>
                <a:cs typeface="Cambria"/>
                <a:sym typeface="Cambria"/>
              </a:rPr>
              <a:t>Class imbalance matters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1"/>
          <p:cNvSpPr/>
          <p:nvPr/>
        </p:nvSpPr>
        <p:spPr>
          <a:xfrm>
            <a:off x="868680" y="4663440"/>
            <a:ext cx="470916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2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1B2F"/>
                </a:solidFill>
                <a:latin typeface="Calibri"/>
                <a:ea typeface="Calibri"/>
                <a:cs typeface="Calibri"/>
                <a:sym typeface="Calibri"/>
              </a:rPr>
              <a:t>Rare labels like "threat" need F1, not accuracy, to judge performance fairly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/>
          <p:cNvSpPr/>
          <p:nvPr/>
        </p:nvSpPr>
        <p:spPr>
          <a:xfrm>
            <a:off x="6172200" y="3886200"/>
            <a:ext cx="5349240" cy="2194560"/>
          </a:xfrm>
          <a:prstGeom prst="roundRect">
            <a:avLst>
              <a:gd fmla="val 3333" name="adj"/>
            </a:avLst>
          </a:prstGeom>
          <a:solidFill>
            <a:srgbClr val="F7F5F4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1"/>
          <p:cNvSpPr/>
          <p:nvPr/>
        </p:nvSpPr>
        <p:spPr>
          <a:xfrm>
            <a:off x="6492240" y="4114800"/>
            <a:ext cx="4709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111E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9B111E"/>
                </a:solidFill>
                <a:latin typeface="Cambria"/>
                <a:ea typeface="Cambria"/>
                <a:cs typeface="Cambria"/>
                <a:sym typeface="Cambria"/>
              </a:rPr>
              <a:t>Deployed, not just trained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1"/>
          <p:cNvSpPr/>
          <p:nvPr/>
        </p:nvSpPr>
        <p:spPr>
          <a:xfrm>
            <a:off x="6492240" y="4663440"/>
            <a:ext cx="470916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2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1B2F"/>
                </a:solidFill>
                <a:latin typeface="Calibri"/>
                <a:ea typeface="Calibri"/>
                <a:cs typeface="Calibri"/>
                <a:sym typeface="Calibri"/>
              </a:rPr>
              <a:t>The pipeline ends in a working Streamlit app, not just a notebook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E0D16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2"/>
          <p:cNvSpPr/>
          <p:nvPr/>
        </p:nvSpPr>
        <p:spPr>
          <a:xfrm>
            <a:off x="8961120" y="-1828800"/>
            <a:ext cx="5486400" cy="5486400"/>
          </a:xfrm>
          <a:prstGeom prst="ellipse">
            <a:avLst/>
          </a:prstGeom>
          <a:solidFill>
            <a:srgbClr val="9B111E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2"/>
          <p:cNvSpPr/>
          <p:nvPr/>
        </p:nvSpPr>
        <p:spPr>
          <a:xfrm>
            <a:off x="640080" y="274320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Thank You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2"/>
          <p:cNvSpPr/>
          <p:nvPr/>
        </p:nvSpPr>
        <p:spPr>
          <a:xfrm>
            <a:off x="640080" y="356616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B8BE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F2B8BE"/>
                </a:solidFill>
                <a:latin typeface="Calibri"/>
                <a:ea typeface="Calibri"/>
                <a:cs typeface="Calibri"/>
                <a:sym typeface="Calibri"/>
              </a:rPr>
              <a:t>Questions &amp; Discussion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2026-07-06T11:28:39Z</dcterms:created>
  <dc:creator>Apoorv</dc:creator>
</cp:coreProperties>
</file>